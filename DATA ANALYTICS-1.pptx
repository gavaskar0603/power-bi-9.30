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8" r:id="rId7"/>
    <p:sldId id="266" r:id="rId8"/>
    <p:sldId id="269" r:id="rId9"/>
    <p:sldId id="270" r:id="rId10"/>
    <p:sldId id="271" r:id="rId11"/>
    <p:sldId id="273" r:id="rId12"/>
    <p:sldId id="275" r:id="rId13"/>
    <p:sldId id="258" r:id="rId14"/>
    <p:sldId id="262" r:id="rId15"/>
    <p:sldId id="259" r:id="rId16"/>
    <p:sldId id="274" r:id="rId17"/>
    <p:sldId id="260" r:id="rId18"/>
    <p:sldId id="261" r:id="rId19"/>
    <p:sldId id="278" r:id="rId20"/>
    <p:sldId id="279" r:id="rId21"/>
    <p:sldId id="280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6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660"/>
  </p:normalViewPr>
  <p:slideViewPr>
    <p:cSldViewPr snapToGrid="0">
      <p:cViewPr varScale="1">
        <p:scale>
          <a:sx n="84" d="100"/>
          <a:sy n="84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4B506-5283-03B9-921D-8805CDCC8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FAB66-426E-5F95-743C-673FB45A6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8F6D3-B722-6304-8844-D70E267A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AAEE5-9FF0-A30A-8232-4FE04CD5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DC7C0-DDD1-4CE8-47BC-0F039931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98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9B97-6A18-4121-E409-9A52FD852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204A4-9554-F56F-8A38-857CFE2C4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8028D-59D7-7D94-DEAB-75CF5149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9767-CB5B-454F-FDFB-95AE4D4B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366EB-703D-289A-B67A-69704677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77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4575-1192-C0ED-04BB-F033FCE7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2CA7A-9355-9294-5127-F90AA8F4E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9F5F7-6737-F72F-A614-5323E254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012CF-1024-64F8-1635-A4BB53E3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0F41E-4564-BF33-A874-77B665E36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97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C3B49-10BE-30B2-952D-8BA6CBAE9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D1252-1F20-635B-EF00-A76FA1C8E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C59D8-AE38-2930-C084-9C7596A94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7ABA4-C496-A1F3-AD1C-51C26F6F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456D1-4630-A682-3ECD-BCD3BBAA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FE193-B4E4-D596-0A51-AC401E37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19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5ADD-C76C-B5E3-05CD-83E78BC5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9795F-6531-C544-7889-4AA4C309F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9C710-07F1-6C42-D56C-22E9F5C02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D7667-38F5-8A8A-5B4C-8D6EB3789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E2ED1-FF8E-7971-CA8A-F166E4423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06058-B288-852D-3259-C1776A15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FD2FE-67FB-9678-B5BB-066F954F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22045A-2F22-590D-CCED-A9DBFBC24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71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ED4F-8D93-1B75-34B4-D7976014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00DDD-4989-6B96-826A-74565B50B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942B9-DF66-E718-B06C-76FE3325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5C5FA-3091-6FE1-C2FD-3C14ABAC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75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AC235-4987-6CBD-77DC-68E9940F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1E2E22-82D7-25EA-5F52-83AA8A2A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F478C-AC97-21C7-7C22-B4EB298D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34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521C4-389F-1859-9662-BA4A5FB47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5A75-E1B6-624C-C3B3-B676E62F3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E6617-6A88-8F3A-6EAB-AF2B748FC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26B35-D3C4-B9B9-212A-44AC1065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72B02-3680-B3B1-E777-325168DD1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A0EC0-868A-985A-97FD-7AFD0465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945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397E0-6118-5514-5DBA-89E352368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77F1E-A182-F260-3115-861441660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36453-A2F8-FC38-A28C-974E5C6C7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C8A73-60F2-3933-8268-B7DD8DB4E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A426F-6AD3-5AAF-19F0-08D81171C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6A980-DA61-DB6F-27E3-D591485E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48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C486D-A9C6-DEEF-0766-9FE95C35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5EC45-957F-95AA-23ED-60F142A93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1B19B-83C2-9298-D68A-5187E2E4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FD773-B1B8-2840-9ABD-87E647E0E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AF0FF-DBF2-6960-2C4F-71FAB4F0E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868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91DD5E-F067-C493-F088-9C477B814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2C62E-1072-B7F0-D0BF-A31B54A8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26653-4E56-2601-5D13-4EC0E4CF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34504-3270-2169-8E7E-9E818F02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D733C-839F-4642-AD5E-C56F430B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011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BC0D7-7A7B-38C4-6178-D9FD93048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0B416-529E-AE75-D0C7-CB50B77D0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11272-ED62-3522-1B05-B90ED6489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4F8E2-888F-4B38-AA7D-780FBFC38BA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AAE04-7E81-A878-1495-BEF4B20A7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16CB3-34B9-1EF5-15AC-370214E62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307EC-800D-461D-9003-56566EEAC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66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e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9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C12F-C20D-206D-EA90-90C1D3E32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1941925"/>
            <a:ext cx="9265920" cy="2974150"/>
          </a:xfrm>
        </p:spPr>
        <p:txBody>
          <a:bodyPr>
            <a:normAutofit fontScale="90000"/>
          </a:bodyPr>
          <a:lstStyle/>
          <a:p>
            <a:r>
              <a:rPr lang="en-IN" sz="11500" dirty="0">
                <a:latin typeface="Algerian" panose="04020705040A02060702" pitchFamily="82" charset="0"/>
              </a:rPr>
              <a:t>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236806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E67E-5FD5-C881-95CE-BA4194DB9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99556-C4D1-87E8-1130-679C9DAC2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53767"/>
          </a:xfrm>
        </p:spPr>
        <p:txBody>
          <a:bodyPr>
            <a:normAutofit/>
          </a:bodyPr>
          <a:lstStyle/>
          <a:p>
            <a:r>
              <a:rPr lang="en-IN" dirty="0">
                <a:latin typeface="Bell MT" panose="02020503060305020303" pitchFamily="18" charset="0"/>
              </a:rPr>
              <a:t>It is the process of </a:t>
            </a:r>
            <a:r>
              <a:rPr lang="en-IN" b="1" dirty="0">
                <a:latin typeface="Bell MT" panose="02020503060305020303" pitchFamily="18" charset="0"/>
              </a:rPr>
              <a:t>Collecting, Cleaning, Transformation &amp; Analyzing the data.</a:t>
            </a:r>
          </a:p>
          <a:p>
            <a:r>
              <a:rPr lang="en-IN" dirty="0">
                <a:latin typeface="Bell MT" panose="02020503060305020303" pitchFamily="18" charset="0"/>
              </a:rPr>
              <a:t>In that data we can </a:t>
            </a:r>
            <a:r>
              <a:rPr lang="en-IN" b="1" dirty="0">
                <a:latin typeface="Bell MT" panose="02020503060305020303" pitchFamily="18" charset="0"/>
              </a:rPr>
              <a:t>create a report or create useful insights </a:t>
            </a:r>
            <a:r>
              <a:rPr lang="en-IN" dirty="0">
                <a:latin typeface="Bell MT" panose="02020503060305020303" pitchFamily="18" charset="0"/>
              </a:rPr>
              <a:t>are called as </a:t>
            </a:r>
            <a:r>
              <a:rPr lang="en-IN" b="1" dirty="0">
                <a:latin typeface="Bell MT" panose="02020503060305020303" pitchFamily="18" charset="0"/>
              </a:rPr>
              <a:t>Data Analysis.</a:t>
            </a:r>
          </a:p>
        </p:txBody>
      </p:sp>
    </p:spTree>
    <p:extLst>
      <p:ext uri="{BB962C8B-B14F-4D97-AF65-F5344CB8AC3E}">
        <p14:creationId xmlns:p14="http://schemas.microsoft.com/office/powerpoint/2010/main" val="3344699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90C38-BAB0-33C5-5D37-48CF91D4E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5891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27F95-B901-9394-9131-20549E4B3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Bell MT" panose="02020503060305020303" pitchFamily="18" charset="0"/>
              </a:rPr>
              <a:t>Data refers to a </a:t>
            </a:r>
            <a:r>
              <a:rPr lang="en-US" sz="3200" b="1" dirty="0">
                <a:latin typeface="Bell MT" panose="02020503060305020303" pitchFamily="18" charset="0"/>
              </a:rPr>
              <a:t>collection of information, facts, or observations</a:t>
            </a:r>
            <a:r>
              <a:rPr lang="en-US" sz="3200" dirty="0">
                <a:latin typeface="Bell MT" panose="02020503060305020303" pitchFamily="18" charset="0"/>
              </a:rPr>
              <a:t> that represent information.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Bell MT" panose="02020503060305020303" pitchFamily="18" charset="0"/>
              </a:rPr>
              <a:t>Data is the </a:t>
            </a:r>
            <a:r>
              <a:rPr lang="en-US" sz="3200" b="1" dirty="0">
                <a:latin typeface="Bell MT" panose="02020503060305020303" pitchFamily="18" charset="0"/>
              </a:rPr>
              <a:t>foundation of information and knowledge</a:t>
            </a:r>
            <a:r>
              <a:rPr lang="en-US" sz="3200" dirty="0">
                <a:latin typeface="Bell MT" panose="02020503060305020303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Bell MT" panose="02020503060305020303" pitchFamily="18" charset="0"/>
              </a:rPr>
              <a:t>Through </a:t>
            </a:r>
            <a:r>
              <a:rPr lang="en-US" sz="3200" b="1" dirty="0">
                <a:latin typeface="Bell MT" panose="02020503060305020303" pitchFamily="18" charset="0"/>
              </a:rPr>
              <a:t>data processing</a:t>
            </a:r>
            <a:r>
              <a:rPr lang="en-US" sz="3200" dirty="0">
                <a:latin typeface="Bell MT" panose="02020503060305020303" pitchFamily="18" charset="0"/>
              </a:rPr>
              <a:t> and </a:t>
            </a:r>
            <a:r>
              <a:rPr lang="en-US" sz="3200" b="1" dirty="0">
                <a:latin typeface="Bell MT" panose="02020503060305020303" pitchFamily="18" charset="0"/>
              </a:rPr>
              <a:t>data analysis</a:t>
            </a:r>
            <a:r>
              <a:rPr lang="en-US" sz="3200" dirty="0">
                <a:latin typeface="Bell MT" panose="02020503060305020303" pitchFamily="18" charset="0"/>
              </a:rPr>
              <a:t>, </a:t>
            </a:r>
            <a:r>
              <a:rPr lang="en-US" sz="3200" b="1" dirty="0">
                <a:latin typeface="Bell MT" panose="02020503060305020303" pitchFamily="18" charset="0"/>
              </a:rPr>
              <a:t>organizations transform raw data points into valuable insights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Bell MT" panose="02020503060305020303" pitchFamily="18" charset="0"/>
              </a:rPr>
              <a:t>That improve </a:t>
            </a:r>
            <a:r>
              <a:rPr lang="en-US" sz="3200" b="1" dirty="0">
                <a:latin typeface="Bell MT" panose="02020503060305020303" pitchFamily="18" charset="0"/>
              </a:rPr>
              <a:t>decision-making</a:t>
            </a:r>
            <a:r>
              <a:rPr lang="en-US" sz="3200" dirty="0">
                <a:latin typeface="Bell MT" panose="02020503060305020303" pitchFamily="18" charset="0"/>
              </a:rPr>
              <a:t> and </a:t>
            </a:r>
            <a:r>
              <a:rPr lang="en-US" sz="3200" b="1" dirty="0">
                <a:latin typeface="Bell MT" panose="02020503060305020303" pitchFamily="18" charset="0"/>
              </a:rPr>
              <a:t>drive better business outcomes.</a:t>
            </a:r>
          </a:p>
        </p:txBody>
      </p:sp>
    </p:spTree>
    <p:extLst>
      <p:ext uri="{BB962C8B-B14F-4D97-AF65-F5344CB8AC3E}">
        <p14:creationId xmlns:p14="http://schemas.microsoft.com/office/powerpoint/2010/main" val="1794067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2986B-FCC5-73A3-6D13-6E7F76047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619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Different 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579BC-10E7-8150-30F1-DB771B4C7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3600" dirty="0">
                <a:latin typeface="Bell MT" panose="02020503060305020303" pitchFamily="18" charset="0"/>
              </a:rPr>
              <a:t>Unstructured Data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3600" dirty="0">
                <a:latin typeface="Bell MT" panose="02020503060305020303" pitchFamily="18" charset="0"/>
              </a:rPr>
              <a:t>Semi – Structured Data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3600" dirty="0">
                <a:latin typeface="Bell MT" panose="02020503060305020303" pitchFamily="18" charset="0"/>
              </a:rPr>
              <a:t>Structured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E5F7A-19A2-E31F-6023-1E681FF0A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35" y="3609266"/>
            <a:ext cx="6188252" cy="245320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6144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CB23-6B97-DA3E-7414-B91957981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0483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Structured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1DFFC-06AA-B930-FC18-BC78D0F76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Bell MT" panose="02020503060305020303" pitchFamily="18" charset="0"/>
              </a:rPr>
              <a:t>It have </a:t>
            </a:r>
            <a:r>
              <a:rPr lang="en-IN" b="1" dirty="0">
                <a:latin typeface="Bell MT" panose="02020503060305020303" pitchFamily="18" charset="0"/>
              </a:rPr>
              <a:t>fixed rows and columns</a:t>
            </a:r>
            <a:r>
              <a:rPr lang="en-IN" dirty="0">
                <a:latin typeface="Bell MT" panose="02020503060305020303" pitchFamily="18" charset="0"/>
              </a:rPr>
              <a:t> format in storage.</a:t>
            </a:r>
          </a:p>
          <a:p>
            <a:r>
              <a:rPr lang="en-IN" b="1" dirty="0">
                <a:latin typeface="Bell MT" panose="02020503060305020303" pitchFamily="18" charset="0"/>
              </a:rPr>
              <a:t>At least 80% </a:t>
            </a:r>
            <a:r>
              <a:rPr lang="en-IN" dirty="0">
                <a:latin typeface="Bell MT" panose="02020503060305020303" pitchFamily="18" charset="0"/>
              </a:rPr>
              <a:t>of data are structured.</a:t>
            </a:r>
          </a:p>
          <a:p>
            <a:r>
              <a:rPr lang="en-IN" dirty="0">
                <a:latin typeface="Bell MT" panose="02020503060305020303" pitchFamily="18" charset="0"/>
              </a:rPr>
              <a:t>The human generated structured data are those which are taken from a human, like their </a:t>
            </a:r>
            <a:r>
              <a:rPr lang="en-IN" b="1" dirty="0">
                <a:latin typeface="Bell MT" panose="02020503060305020303" pitchFamily="18" charset="0"/>
              </a:rPr>
              <a:t>name, age, address, etc…,</a:t>
            </a:r>
          </a:p>
          <a:p>
            <a:r>
              <a:rPr lang="en-IN" dirty="0">
                <a:latin typeface="Bell MT" panose="02020503060305020303" pitchFamily="18" charset="0"/>
              </a:rPr>
              <a:t>The structured data are those types of data which are stored in an order.</a:t>
            </a:r>
          </a:p>
          <a:p>
            <a:r>
              <a:rPr lang="en-IN" dirty="0">
                <a:latin typeface="Bell MT" panose="02020503060305020303" pitchFamily="18" charset="0"/>
              </a:rPr>
              <a:t>Example:  Tables</a:t>
            </a:r>
          </a:p>
        </p:txBody>
      </p:sp>
    </p:spTree>
    <p:extLst>
      <p:ext uri="{BB962C8B-B14F-4D97-AF65-F5344CB8AC3E}">
        <p14:creationId xmlns:p14="http://schemas.microsoft.com/office/powerpoint/2010/main" val="3895222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A72C1-2522-764C-A504-7207EACB3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C7B7-E280-6AE1-E6A4-8A893848D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0483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Unstructured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852C8-0E08-E7F3-9117-91556763B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Bell MT" panose="02020503060305020303" pitchFamily="18" charset="0"/>
              </a:rPr>
              <a:t>It have </a:t>
            </a:r>
            <a:r>
              <a:rPr lang="en-IN" b="1" dirty="0">
                <a:latin typeface="Bell MT" panose="02020503060305020303" pitchFamily="18" charset="0"/>
              </a:rPr>
              <a:t>not cleared format </a:t>
            </a:r>
            <a:r>
              <a:rPr lang="en-IN" dirty="0">
                <a:latin typeface="Bell MT" panose="02020503060305020303" pitchFamily="18" charset="0"/>
              </a:rPr>
              <a:t>in storage.</a:t>
            </a:r>
          </a:p>
          <a:p>
            <a:r>
              <a:rPr lang="en-IN" dirty="0">
                <a:latin typeface="Bell MT" panose="02020503060305020303" pitchFamily="18" charset="0"/>
              </a:rPr>
              <a:t>At least 80% of data are unstructured.</a:t>
            </a:r>
          </a:p>
          <a:p>
            <a:r>
              <a:rPr lang="en-IN" dirty="0">
                <a:latin typeface="Bell MT" panose="02020503060305020303" pitchFamily="18" charset="0"/>
              </a:rPr>
              <a:t>They are various type of human – </a:t>
            </a:r>
            <a:r>
              <a:rPr lang="en-IN" b="1" dirty="0">
                <a:latin typeface="Bell MT" panose="02020503060305020303" pitchFamily="18" charset="0"/>
              </a:rPr>
              <a:t>generated data.</a:t>
            </a:r>
          </a:p>
          <a:p>
            <a:r>
              <a:rPr lang="en-IN" dirty="0">
                <a:latin typeface="Bell MT" panose="02020503060305020303" pitchFamily="18" charset="0"/>
              </a:rPr>
              <a:t>These are </a:t>
            </a:r>
            <a:r>
              <a:rPr lang="en-IN" b="1" dirty="0">
                <a:latin typeface="Bell MT" panose="02020503060305020303" pitchFamily="18" charset="0"/>
              </a:rPr>
              <a:t>image, videos, pdf, etc…,</a:t>
            </a:r>
          </a:p>
        </p:txBody>
      </p:sp>
    </p:spTree>
    <p:extLst>
      <p:ext uri="{BB962C8B-B14F-4D97-AF65-F5344CB8AC3E}">
        <p14:creationId xmlns:p14="http://schemas.microsoft.com/office/powerpoint/2010/main" val="117071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43BD-B219-7C2F-2F90-371266F2B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latin typeface="Bell MT" panose="02020503060305020303" pitchFamily="18" charset="0"/>
              </a:rPr>
              <a:t>Semi – Structured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E35C6-5637-B0A6-1BF7-274D2C8A9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Bell MT" panose="02020503060305020303" pitchFamily="18" charset="0"/>
              </a:rPr>
              <a:t>Semi-structured data is </a:t>
            </a:r>
            <a:r>
              <a:rPr lang="en-US" sz="3200" b="1" dirty="0">
                <a:latin typeface="Bell MT" panose="02020503060305020303" pitchFamily="18" charset="0"/>
              </a:rPr>
              <a:t>partially organized data</a:t>
            </a:r>
            <a:r>
              <a:rPr lang="en-US" sz="3200" dirty="0">
                <a:latin typeface="Bell MT" panose="02020503060305020303" pitchFamily="18" charset="0"/>
              </a:rPr>
              <a:t> that does not fit neatly into rows and columns but still contains identifiable structure.</a:t>
            </a:r>
          </a:p>
          <a:p>
            <a:r>
              <a:rPr lang="en-IN" sz="3200" dirty="0">
                <a:latin typeface="Bell MT" panose="02020503060305020303" pitchFamily="18" charset="0"/>
              </a:rPr>
              <a:t>They are various type of file format like as </a:t>
            </a:r>
            <a:r>
              <a:rPr lang="en-IN" sz="3200" b="1" dirty="0">
                <a:latin typeface="Bell MT" panose="02020503060305020303" pitchFamily="18" charset="0"/>
              </a:rPr>
              <a:t>JSON, XML, etc…,</a:t>
            </a:r>
          </a:p>
        </p:txBody>
      </p:sp>
    </p:spTree>
    <p:extLst>
      <p:ext uri="{BB962C8B-B14F-4D97-AF65-F5344CB8AC3E}">
        <p14:creationId xmlns:p14="http://schemas.microsoft.com/office/powerpoint/2010/main" val="198035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9AC4-A7D5-0378-7FA5-F4803A04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Data 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30997-A6A8-04BC-B01D-AF153C116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Data engineers</a:t>
            </a:r>
            <a:r>
              <a:rPr lang="en-US" dirty="0">
                <a:latin typeface="Bell MT" panose="02020503060305020303" pitchFamily="18" charset="0"/>
              </a:rPr>
              <a:t> are software engineers who build and maintain an enterprise’s data infrastructure.</a:t>
            </a:r>
          </a:p>
          <a:p>
            <a:r>
              <a:rPr lang="en-US" dirty="0">
                <a:latin typeface="Bell MT" panose="02020503060305020303" pitchFamily="18" charset="0"/>
              </a:rPr>
              <a:t>Automating data integration, creating efficient data storage models and enhancing data quality via pipeline observability.</a:t>
            </a:r>
          </a:p>
          <a:p>
            <a:r>
              <a:rPr lang="en-US" dirty="0">
                <a:latin typeface="Bell MT" panose="02020503060305020303" pitchFamily="18" charset="0"/>
              </a:rPr>
              <a:t>Data scientists and analysts rely on data engineers to provide them with the reliable, high-quality data they need for their work.</a:t>
            </a:r>
          </a:p>
        </p:txBody>
      </p:sp>
    </p:spTree>
    <p:extLst>
      <p:ext uri="{BB962C8B-B14F-4D97-AF65-F5344CB8AC3E}">
        <p14:creationId xmlns:p14="http://schemas.microsoft.com/office/powerpoint/2010/main" val="3499115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DC01-1ADC-176C-1A98-07BD7FA7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Data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5F5B3-6BB1-F6E8-8803-FB9C86EE2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Data analytics is part of </a:t>
            </a:r>
            <a:r>
              <a:rPr lang="en-US" b="1" dirty="0">
                <a:latin typeface="Bell MT" panose="02020503060305020303" pitchFamily="18" charset="0"/>
              </a:rPr>
              <a:t>Data Science.</a:t>
            </a:r>
          </a:p>
          <a:p>
            <a:r>
              <a:rPr lang="en-US" dirty="0">
                <a:latin typeface="Bell MT" panose="02020503060305020303" pitchFamily="18" charset="0"/>
              </a:rPr>
              <a:t>Data analytics is a multidisciplinary field that employs a wide range of </a:t>
            </a:r>
            <a:r>
              <a:rPr lang="en-US" b="1" dirty="0">
                <a:latin typeface="Bell MT" panose="02020503060305020303" pitchFamily="18" charset="0"/>
              </a:rPr>
              <a:t>analysis techniques, including math, statistics, and computer science</a:t>
            </a:r>
            <a:r>
              <a:rPr lang="en-US" dirty="0">
                <a:latin typeface="Bell MT" panose="02020503060305020303" pitchFamily="18" charset="0"/>
              </a:rPr>
              <a:t>, to draw insights from data sets.</a:t>
            </a:r>
          </a:p>
          <a:p>
            <a:r>
              <a:rPr lang="en-US" dirty="0">
                <a:latin typeface="Bell MT" panose="02020503060305020303" pitchFamily="18" charset="0"/>
              </a:rPr>
              <a:t>Data analytics is the practice of examining raw data to identify </a:t>
            </a:r>
            <a:r>
              <a:rPr lang="en-US" b="1" dirty="0">
                <a:latin typeface="Bell MT" panose="02020503060305020303" pitchFamily="18" charset="0"/>
              </a:rPr>
              <a:t>patterns, generate insights, and support better decision-making.</a:t>
            </a:r>
            <a:endParaRPr lang="en-IN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4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826CB-9BAD-9BB2-663F-1E2F8BA2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67F22-2A74-F4B4-CCDC-3B01FBB54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Bell MT" panose="02020503060305020303" pitchFamily="18" charset="0"/>
              </a:rPr>
              <a:t>Data Science is an in-disciplinary field combining </a:t>
            </a:r>
            <a:r>
              <a:rPr lang="en-IN" b="1" dirty="0">
                <a:latin typeface="Bell MT" panose="02020503060305020303" pitchFamily="18" charset="0"/>
              </a:rPr>
              <a:t>statistics, mathematics, programming and AI </a:t>
            </a:r>
            <a:r>
              <a:rPr lang="en-IN" dirty="0">
                <a:latin typeface="Bell MT" panose="02020503060305020303" pitchFamily="18" charset="0"/>
              </a:rPr>
              <a:t>to extract actionable insights from </a:t>
            </a:r>
            <a:r>
              <a:rPr lang="en-IN" b="1" dirty="0">
                <a:latin typeface="Bell MT" panose="02020503060305020303" pitchFamily="18" charset="0"/>
              </a:rPr>
              <a:t>large, complex or raw data’s.</a:t>
            </a:r>
          </a:p>
          <a:p>
            <a:r>
              <a:rPr lang="en-IN" dirty="0">
                <a:latin typeface="Bell MT" panose="02020503060305020303" pitchFamily="18" charset="0"/>
              </a:rPr>
              <a:t>It empower business </a:t>
            </a:r>
            <a:r>
              <a:rPr lang="en-IN" b="1" dirty="0">
                <a:latin typeface="Bell MT" panose="02020503060305020303" pitchFamily="18" charset="0"/>
              </a:rPr>
              <a:t>predict trends, automated </a:t>
            </a:r>
            <a:r>
              <a:rPr lang="en-IN" dirty="0">
                <a:latin typeface="Bell MT" panose="02020503060305020303" pitchFamily="18" charset="0"/>
              </a:rPr>
              <a:t>process and optimizing decision-making using tools like </a:t>
            </a:r>
            <a:r>
              <a:rPr lang="en-IN" b="1" dirty="0">
                <a:latin typeface="Bell MT" panose="02020503060305020303" pitchFamily="18" charset="0"/>
              </a:rPr>
              <a:t>python, R, SQL, and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393754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5074-3D38-EBCF-4F32-63FC0584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Responsibilities of Data Analyst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F5806-EF7A-B5BD-3194-117B9E285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Data collection</a:t>
            </a:r>
          </a:p>
          <a:p>
            <a:pPr lvl="1"/>
            <a:r>
              <a:rPr lang="en-IN" dirty="0">
                <a:latin typeface="Bell MT" panose="02020503060305020303" pitchFamily="18" charset="0"/>
              </a:rPr>
              <a:t>Data Analysts collect data from diverse source, ensuring accuracy, completeness and currency</a:t>
            </a:r>
          </a:p>
          <a:p>
            <a:r>
              <a:rPr lang="en-IN" b="1" dirty="0">
                <a:latin typeface="Bell MT" panose="02020503060305020303" pitchFamily="18" charset="0"/>
              </a:rPr>
              <a:t>Data Cleaning &amp; Transformation</a:t>
            </a:r>
          </a:p>
          <a:p>
            <a:pPr lvl="1"/>
            <a:r>
              <a:rPr lang="en-IN" dirty="0">
                <a:latin typeface="Bell MT" panose="02020503060305020303" pitchFamily="18" charset="0"/>
              </a:rPr>
              <a:t>Raw data to prepare it for analysis by removing duplicates, handle missing values, and ensuring consistent formatting</a:t>
            </a:r>
          </a:p>
          <a:p>
            <a:r>
              <a:rPr lang="en-IN" b="1" dirty="0">
                <a:latin typeface="Bell MT" panose="02020503060305020303" pitchFamily="18" charset="0"/>
              </a:rPr>
              <a:t>Exploratory Data Analysis [EDA]</a:t>
            </a:r>
          </a:p>
          <a:p>
            <a:pPr lvl="1"/>
            <a:r>
              <a:rPr lang="en-IN" dirty="0">
                <a:latin typeface="Bell MT" panose="02020503060305020303" pitchFamily="18" charset="0"/>
              </a:rPr>
              <a:t>Use Statistical and analytical techniques to analysis data including statistical analyses, predictive modelling and trend identification.</a:t>
            </a:r>
          </a:p>
          <a:p>
            <a:r>
              <a:rPr lang="en-IN" b="1" dirty="0">
                <a:latin typeface="Bell MT" panose="02020503060305020303" pitchFamily="18" charset="0"/>
              </a:rPr>
              <a:t>Data Visualization</a:t>
            </a:r>
          </a:p>
          <a:p>
            <a:pPr lvl="1"/>
            <a:r>
              <a:rPr lang="en-IN" dirty="0">
                <a:latin typeface="Bell MT" panose="02020503060305020303" pitchFamily="18" charset="0"/>
              </a:rPr>
              <a:t>Utilize data visualization tools and present insights through charts, graphs, dashboards effectively.</a:t>
            </a:r>
          </a:p>
        </p:txBody>
      </p:sp>
    </p:spTree>
    <p:extLst>
      <p:ext uri="{BB962C8B-B14F-4D97-AF65-F5344CB8AC3E}">
        <p14:creationId xmlns:p14="http://schemas.microsoft.com/office/powerpoint/2010/main" val="3401705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182C4DA-B8F7-B029-D820-FBD586D7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Types of Data Analytics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341F1B-222C-426F-D4E4-F0BA4ED68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Descriptive Analytics (What happened?)</a:t>
            </a:r>
          </a:p>
          <a:p>
            <a:pPr lvl="1"/>
            <a:r>
              <a:rPr lang="en-US" dirty="0">
                <a:latin typeface="Bell MT" panose="02020503060305020303" pitchFamily="18" charset="0"/>
              </a:rPr>
              <a:t>Summarizes historical data to understand changes in business, such as sales trends, year-over-year growth, or monthly reports.</a:t>
            </a:r>
            <a:endParaRPr lang="en-IN" dirty="0">
              <a:latin typeface="Bell MT" panose="02020503060305020303" pitchFamily="18" charset="0"/>
            </a:endParaRPr>
          </a:p>
          <a:p>
            <a:r>
              <a:rPr lang="en-IN" b="1" dirty="0">
                <a:latin typeface="Bell MT" panose="02020503060305020303" pitchFamily="18" charset="0"/>
              </a:rPr>
              <a:t>Diagnostic Analytics (Why did it happen?)</a:t>
            </a:r>
          </a:p>
          <a:p>
            <a:pPr lvl="1"/>
            <a:r>
              <a:rPr lang="en-US" dirty="0">
                <a:latin typeface="Bell MT" panose="02020503060305020303" pitchFamily="18" charset="0"/>
              </a:rPr>
              <a:t>Drills down into data to identify root causes of trends or anomalies, such as determining why churn increased or why sales dipped in a specific region.</a:t>
            </a:r>
            <a:endParaRPr lang="en-IN" dirty="0">
              <a:latin typeface="Bell MT" panose="02020503060305020303" pitchFamily="18" charset="0"/>
            </a:endParaRPr>
          </a:p>
          <a:p>
            <a:r>
              <a:rPr lang="en-IN" b="1" dirty="0">
                <a:latin typeface="Bell MT" panose="02020503060305020303" pitchFamily="18" charset="0"/>
              </a:rPr>
              <a:t>Predictive Analytics </a:t>
            </a:r>
            <a:r>
              <a:rPr lang="en-US" b="1" dirty="0">
                <a:latin typeface="Bell MT" panose="02020503060305020303" pitchFamily="18" charset="0"/>
              </a:rPr>
              <a:t>(What is likely to happen?)</a:t>
            </a:r>
            <a:endParaRPr lang="en-IN" b="1" dirty="0">
              <a:latin typeface="Bell MT" panose="02020503060305020303" pitchFamily="18" charset="0"/>
            </a:endParaRPr>
          </a:p>
          <a:p>
            <a:pPr lvl="1"/>
            <a:r>
              <a:rPr lang="en-US" dirty="0">
                <a:latin typeface="Bell MT" panose="02020503060305020303" pitchFamily="18" charset="0"/>
              </a:rPr>
              <a:t>Uses historical data, machine learning, and AI to forecast future probabilities, such as customer behavior, demand planning, or risk assessment.</a:t>
            </a:r>
            <a:endParaRPr lang="en-IN" dirty="0">
              <a:latin typeface="Bell MT" panose="02020503060305020303" pitchFamily="18" charset="0"/>
            </a:endParaRPr>
          </a:p>
          <a:p>
            <a:r>
              <a:rPr lang="en-IN" b="1" dirty="0">
                <a:latin typeface="Bell MT" panose="02020503060305020303" pitchFamily="18" charset="0"/>
              </a:rPr>
              <a:t>Prescriptive  (What should we do?)</a:t>
            </a:r>
          </a:p>
          <a:p>
            <a:pPr lvl="1"/>
            <a:r>
              <a:rPr lang="en-US" dirty="0">
                <a:latin typeface="Bell MT" panose="02020503060305020303" pitchFamily="18" charset="0"/>
              </a:rPr>
              <a:t>Recommends specific actions to take advantage of predictions, optimizing processes like supply chain logistics, pricing strategies, or personalized marketing.</a:t>
            </a:r>
            <a:endParaRPr lang="en-IN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24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1D79-B450-B50F-98D3-95081F30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Why Data Analysis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5664A-463E-AED5-8E96-F54B97E47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3600" dirty="0">
                <a:latin typeface="Bell MT" panose="02020503060305020303" pitchFamily="18" charset="0"/>
              </a:rPr>
              <a:t>Better decision making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3600" dirty="0">
                <a:latin typeface="Bell MT" panose="02020503060305020303" pitchFamily="18" charset="0"/>
              </a:rPr>
              <a:t>Customer Insights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3600" dirty="0">
                <a:latin typeface="Bell MT" panose="02020503060305020303" pitchFamily="18" charset="0"/>
              </a:rPr>
              <a:t>Identify problems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3600" dirty="0">
                <a:latin typeface="Bell MT" panose="02020503060305020303" pitchFamily="18" charset="0"/>
              </a:rPr>
              <a:t>Increase profit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3600" dirty="0">
                <a:latin typeface="Bell MT" panose="02020503060305020303" pitchFamily="18" charset="0"/>
              </a:rPr>
              <a:t>Reduce loss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4DD33D-CFCD-4B59-957F-BBA3B3A651DA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latin typeface="Bell MT" panose="02020503060305020303" pitchFamily="18" charset="0"/>
              </a:rPr>
              <a:t>Examples: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3200" dirty="0">
                <a:latin typeface="Bell MT" panose="02020503060305020303" pitchFamily="18" charset="0"/>
              </a:rPr>
              <a:t>Netflix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3200" dirty="0">
                <a:latin typeface="Bell MT" panose="02020503060305020303" pitchFamily="18" charset="0"/>
              </a:rPr>
              <a:t>Amazon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3200" dirty="0">
                <a:latin typeface="Bell MT" panose="02020503060305020303" pitchFamily="18" charset="0"/>
              </a:rPr>
              <a:t>Flipkart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3200" dirty="0">
                <a:latin typeface="Bell MT" panose="02020503060305020303" pitchFamily="18" charset="0"/>
              </a:rPr>
              <a:t>Hospital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3200" dirty="0">
                <a:latin typeface="Bell MT" panose="02020503060305020303" pitchFamily="18" charset="0"/>
              </a:rPr>
              <a:t>Cricket Analysis</a:t>
            </a:r>
          </a:p>
        </p:txBody>
      </p:sp>
    </p:spTree>
    <p:extLst>
      <p:ext uri="{BB962C8B-B14F-4D97-AF65-F5344CB8AC3E}">
        <p14:creationId xmlns:p14="http://schemas.microsoft.com/office/powerpoint/2010/main" val="1195507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D13DDCD-7C8C-F2EE-01D6-7AE087636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25" t="18275" r="18455" b="42736"/>
          <a:stretch>
            <a:fillRect/>
          </a:stretch>
        </p:blipFill>
        <p:spPr>
          <a:xfrm>
            <a:off x="6939666" y="4663283"/>
            <a:ext cx="2442708" cy="14274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C930AE-3E96-A147-1688-0AC45CD49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0" t="22266" r="33910" b="22360"/>
          <a:stretch>
            <a:fillRect/>
          </a:stretch>
        </p:blipFill>
        <p:spPr>
          <a:xfrm>
            <a:off x="8813279" y="3139393"/>
            <a:ext cx="1469353" cy="17238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A0A3F0-16DC-A989-5A34-387F2360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Fields involved in Data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8AA6B-F4D9-34C4-1AEA-9EB282B4F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Financial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Retail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Inventory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Manufacturing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Health Care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Energy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Sports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Medias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CFE40C-543D-B83A-328A-94DBBFAC18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6" t="22200" r="16333" b="21200"/>
          <a:stretch>
            <a:fillRect/>
          </a:stretch>
        </p:blipFill>
        <p:spPr>
          <a:xfrm>
            <a:off x="4584075" y="1428718"/>
            <a:ext cx="1587865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1D5CE2-DBF9-083A-8AAB-2528A21873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22" t="26800" r="22445" b="26800"/>
          <a:stretch>
            <a:fillRect/>
          </a:stretch>
        </p:blipFill>
        <p:spPr>
          <a:xfrm>
            <a:off x="7232904" y="1673863"/>
            <a:ext cx="1856232" cy="1591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AB8439-AA6A-3C25-E152-486D611CBB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4" t="21733" r="26356" b="20000"/>
          <a:stretch>
            <a:fillRect/>
          </a:stretch>
        </p:blipFill>
        <p:spPr>
          <a:xfrm>
            <a:off x="10006774" y="1673863"/>
            <a:ext cx="1353312" cy="1656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242791-1BD2-DEED-FA2B-CAD4854626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774" y="4395916"/>
            <a:ext cx="1856232" cy="18562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CB0E01-FCDA-A1EC-0A27-9CFCE38DB4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32" t="28939" r="22726" b="28329"/>
          <a:stretch>
            <a:fillRect/>
          </a:stretch>
        </p:blipFill>
        <p:spPr>
          <a:xfrm>
            <a:off x="5667895" y="3301319"/>
            <a:ext cx="1642233" cy="13255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6A4B3D-8D92-2CB6-FF2E-3E5D5278E0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7" t="23202" r="12168" b="24626"/>
          <a:stretch>
            <a:fillRect/>
          </a:stretch>
        </p:blipFill>
        <p:spPr>
          <a:xfrm>
            <a:off x="4234602" y="4557365"/>
            <a:ext cx="2195858" cy="153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40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F6FF5-9368-1864-B60D-5D690865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1067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Data Analysis 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7957D4-0032-77C5-998A-A441E85F13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2252879"/>
              </p:ext>
            </p:extLst>
          </p:nvPr>
        </p:nvGraphicFramePr>
        <p:xfrm>
          <a:off x="838200" y="1414145"/>
          <a:ext cx="105156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507568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50798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Bell MT" panose="02020503060305020303" pitchFamily="18" charset="0"/>
                        </a:rP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Bell MT" panose="02020503060305020303" pitchFamily="18" charset="0"/>
                        </a:rPr>
                        <a:t>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037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Microsoft 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106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Tableau Desktop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469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Qlik 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11%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260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SAP Analytics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11%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1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IBM Cognos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86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Looker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31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>
                          <a:latin typeface="Bell MT" panose="02020503060305020303" pitchFamily="18" charset="0"/>
                        </a:rPr>
                        <a:t>Strategy </a:t>
                      </a:r>
                      <a:r>
                        <a:rPr lang="en-IN" sz="2800" dirty="0">
                          <a:latin typeface="Bell MT" panose="02020503060305020303" pitchFamily="18" charset="0"/>
                        </a:rPr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42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Sisense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70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Oracle Analytics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Bell MT" panose="02020503060305020303" pitchFamily="18" charset="0"/>
                        </a:rPr>
                        <a:t>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3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202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9645E0-4C92-1412-ACCD-180948659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792357"/>
              </p:ext>
            </p:extLst>
          </p:nvPr>
        </p:nvGraphicFramePr>
        <p:xfrm>
          <a:off x="0" y="1"/>
          <a:ext cx="12191999" cy="68741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33491">
                  <a:extLst>
                    <a:ext uri="{9D8B030D-6E8A-4147-A177-3AD203B41FA5}">
                      <a16:colId xmlns:a16="http://schemas.microsoft.com/office/drawing/2014/main" val="2550002405"/>
                    </a:ext>
                  </a:extLst>
                </a:gridCol>
                <a:gridCol w="4198858">
                  <a:extLst>
                    <a:ext uri="{9D8B030D-6E8A-4147-A177-3AD203B41FA5}">
                      <a16:colId xmlns:a16="http://schemas.microsoft.com/office/drawing/2014/main" val="1732492053"/>
                    </a:ext>
                  </a:extLst>
                </a:gridCol>
                <a:gridCol w="4559650">
                  <a:extLst>
                    <a:ext uri="{9D8B030D-6E8A-4147-A177-3AD203B41FA5}">
                      <a16:colId xmlns:a16="http://schemas.microsoft.com/office/drawing/2014/main" val="2169043161"/>
                    </a:ext>
                  </a:extLst>
                </a:gridCol>
              </a:tblGrid>
              <a:tr h="418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Power BI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Tableau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657602"/>
                  </a:ext>
                </a:extLst>
              </a:tr>
              <a:tr h="6640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Usability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Simple and familiar user interface makes it easy to get started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Bell MT" panose="02020503060305020303" pitchFamily="18" charset="0"/>
                        </a:rPr>
                        <a:t>Doesn’t require specialised knowledge but not as user friendly as Power BI</a:t>
                      </a:r>
                      <a:endParaRPr lang="en-IN" sz="1800" kern="10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948978"/>
                  </a:ext>
                </a:extLst>
              </a:tr>
              <a:tr h="9295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Best For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Analysing personalised data but can convert data from multiple sources with optional software add-on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Bell MT" panose="02020503060305020303" pitchFamily="18" charset="0"/>
                        </a:rPr>
                        <a:t>Built to represent large data sets from multiple sources</a:t>
                      </a:r>
                      <a:endParaRPr lang="en-IN" sz="1800" kern="10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54280"/>
                  </a:ext>
                </a:extLst>
              </a:tr>
              <a:tr h="1658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Data Handling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Power BI is limited to 1GB per data set and 10GB per user.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With Power BI premium this increase to 10GB per dataset and 100TB across all users.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Bell MT" panose="02020503060305020303" pitchFamily="18" charset="0"/>
                        </a:rPr>
                        <a:t>Limited to 100GB capacity for work book and data source</a:t>
                      </a:r>
                      <a:endParaRPr lang="en-IN" sz="1800" kern="10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13554"/>
                  </a:ext>
                </a:extLst>
              </a:tr>
              <a:tr h="9295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Data Source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Can access a multitude of database and cloud services including SQL, SAP, HANA, and Oracle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Bell MT" panose="02020503060305020303" pitchFamily="18" charset="0"/>
                        </a:rPr>
                        <a:t>Can access a huge number of server and data sources</a:t>
                      </a:r>
                      <a:endParaRPr lang="en-IN" sz="1800" kern="10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428351"/>
                  </a:ext>
                </a:extLst>
              </a:tr>
              <a:tr h="9295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Features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Power BI is an effective data visualisation tool that is constantly evolving.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Bell MT" panose="02020503060305020303" pitchFamily="18" charset="0"/>
                        </a:rPr>
                        <a:t>Tableau is feature rich and highly customisable – through more complex than Power BI</a:t>
                      </a:r>
                      <a:endParaRPr lang="en-IN" sz="1800" kern="10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37547"/>
                  </a:ext>
                </a:extLst>
              </a:tr>
              <a:tr h="6640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Deployment Option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Delivered as a cloud service particularly Ideal for smaller organisations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Bell MT" panose="02020503060305020303" pitchFamily="18" charset="0"/>
                        </a:rPr>
                        <a:t>Can be delivered as a cloud service on – premise or via a third-party cloud provider</a:t>
                      </a:r>
                      <a:endParaRPr lang="en-IN" sz="1800" kern="10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7347"/>
                  </a:ext>
                </a:extLst>
              </a:tr>
              <a:tr h="6640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Cost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Easy to get started with low cost per user pricing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Bell MT" panose="02020503060305020303" pitchFamily="18" charset="0"/>
                        </a:rPr>
                        <a:t>Higher cost balanced by richer features and data handling capabilities.</a:t>
                      </a:r>
                      <a:endParaRPr lang="en-IN" sz="1800" kern="100" dirty="0">
                        <a:effectLst/>
                        <a:latin typeface="Bell MT" panose="020205030603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3" marR="466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176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287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6CBF6-1832-A4B9-1E81-36FBC0B97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2195"/>
          </a:xfrm>
        </p:spPr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What is 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EE860-EEF8-2E2B-6954-B3212E6AB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048"/>
            <a:ext cx="10515600" cy="52577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Bell MT" panose="02020503060305020303" pitchFamily="18" charset="0"/>
              </a:rPr>
              <a:t> Power BI is a </a:t>
            </a:r>
            <a:r>
              <a:rPr lang="en-IN" b="1" dirty="0">
                <a:latin typeface="Bell MT" panose="02020503060305020303" pitchFamily="18" charset="0"/>
              </a:rPr>
              <a:t>Business Intelligence</a:t>
            </a:r>
            <a:r>
              <a:rPr lang="en-IN" dirty="0">
                <a:latin typeface="Bell MT" panose="02020503060305020303" pitchFamily="18" charset="0"/>
              </a:rPr>
              <a:t> platform that transforms raw data  into meaningful stories through the interactive dashboards and visual analytics, </a:t>
            </a:r>
            <a:r>
              <a:rPr lang="en-IN" b="1" dirty="0">
                <a:latin typeface="Bell MT" panose="02020503060305020303" pitchFamily="18" charset="0"/>
              </a:rPr>
              <a:t>enabling organizations to make Faster and Smarter decisions.</a:t>
            </a:r>
          </a:p>
          <a:p>
            <a:pPr marL="0" indent="0">
              <a:buNone/>
            </a:pPr>
            <a:endParaRPr lang="en-IN" b="1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Bell MT" panose="02020503060305020303" pitchFamily="18" charset="0"/>
              </a:rPr>
              <a:t>Why Power BI?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Large Data’s Analysis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Excel Integration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Real time Analysis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Turns into Meaningful Insights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Rich features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Bell MT" panose="02020503060305020303" pitchFamily="18" charset="0"/>
              </a:rPr>
              <a:t>More flexibility.</a:t>
            </a:r>
          </a:p>
        </p:txBody>
      </p:sp>
    </p:spTree>
    <p:extLst>
      <p:ext uri="{BB962C8B-B14F-4D97-AF65-F5344CB8AC3E}">
        <p14:creationId xmlns:p14="http://schemas.microsoft.com/office/powerpoint/2010/main" val="1544875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A5CF-09D9-23B8-C648-0874548D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Power BI Different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5C4C3-6A77-9070-94A2-456C8419F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2959481"/>
            <a:ext cx="3633216" cy="200571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Bell MT" panose="02020503060305020303" pitchFamily="18" charset="0"/>
              </a:rPr>
              <a:t>Power BI Desktop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Bell MT" panose="02020503060305020303" pitchFamily="18" charset="0"/>
              </a:rPr>
              <a:t>Power BI Service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Bell MT" panose="02020503060305020303" pitchFamily="18" charset="0"/>
              </a:rPr>
              <a:t>Power BI Mobile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9003B-FA16-4FC3-58DC-7859237A8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0" r="3095"/>
          <a:stretch>
            <a:fillRect/>
          </a:stretch>
        </p:blipFill>
        <p:spPr>
          <a:xfrm>
            <a:off x="3904489" y="2161603"/>
            <a:ext cx="7964423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35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4428-56FB-445F-5414-374FDA81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Components of Power BI</a:t>
            </a:r>
          </a:p>
        </p:txBody>
      </p:sp>
      <p:pic>
        <p:nvPicPr>
          <p:cNvPr id="1028" name="Picture 4" descr="Power BI Tutorial for Beginners – Learn Power BI from Experts">
            <a:extLst>
              <a:ext uri="{FF2B5EF4-FFF2-40B4-BE49-F238E27FC236}">
                <a16:creationId xmlns:a16="http://schemas.microsoft.com/office/drawing/2014/main" id="{D94F016F-1B24-8E66-5193-43A223D25D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7" r="6642"/>
          <a:stretch>
            <a:fillRect/>
          </a:stretch>
        </p:blipFill>
        <p:spPr bwMode="auto">
          <a:xfrm>
            <a:off x="1999488" y="1690688"/>
            <a:ext cx="8193024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56CCBC8-C243-6269-E02C-4FB603BDDC4F}"/>
              </a:ext>
            </a:extLst>
          </p:cNvPr>
          <p:cNvSpPr/>
          <p:nvPr/>
        </p:nvSpPr>
        <p:spPr>
          <a:xfrm>
            <a:off x="2002536" y="1856232"/>
            <a:ext cx="630936" cy="237744"/>
          </a:xfrm>
          <a:prstGeom prst="rect">
            <a:avLst/>
          </a:prstGeom>
          <a:solidFill>
            <a:srgbClr val="DCE6EF"/>
          </a:solidFill>
          <a:ln>
            <a:solidFill>
              <a:srgbClr val="DCE6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8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73A10-16D7-ACA8-1BFB-AEB76E53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Architecture of Power BI</a:t>
            </a:r>
          </a:p>
        </p:txBody>
      </p:sp>
      <p:pic>
        <p:nvPicPr>
          <p:cNvPr id="2050" name="Picture 2" descr="Power BI Architecture - Explained with Diagrams &amp; Examples | Coupler.io Blog">
            <a:extLst>
              <a:ext uri="{FF2B5EF4-FFF2-40B4-BE49-F238E27FC236}">
                <a16:creationId xmlns:a16="http://schemas.microsoft.com/office/drawing/2014/main" id="{B8197A23-28BB-1123-C471-2514953BEC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95"/>
          <a:stretch>
            <a:fillRect/>
          </a:stretch>
        </p:blipFill>
        <p:spPr bwMode="auto">
          <a:xfrm>
            <a:off x="1062228" y="1690688"/>
            <a:ext cx="10067544" cy="4802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753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6DB9-2497-B7E2-BA2B-2DB883F9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Data Types in 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338AB-8AD6-387E-44C0-C6130F6D9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7348" y="1690688"/>
            <a:ext cx="4337304" cy="4950080"/>
          </a:xfrm>
        </p:spPr>
        <p:txBody>
          <a:bodyPr>
            <a:normAutofit fontScale="92500" lnSpcReduction="10000"/>
          </a:bodyPr>
          <a:lstStyle/>
          <a:p>
            <a:r>
              <a:rPr lang="en-IN" sz="3000" b="1" dirty="0">
                <a:latin typeface="Bell MT" panose="02020503060305020303" pitchFamily="18" charset="0"/>
              </a:rPr>
              <a:t>Text</a:t>
            </a:r>
          </a:p>
          <a:p>
            <a:r>
              <a:rPr lang="en-IN" sz="3000" b="1" dirty="0">
                <a:latin typeface="Bell MT" panose="02020503060305020303" pitchFamily="18" charset="0"/>
              </a:rPr>
              <a:t>Number</a:t>
            </a:r>
          </a:p>
          <a:p>
            <a:pPr lvl="1"/>
            <a:r>
              <a:rPr lang="en-IN" sz="2600" dirty="0">
                <a:latin typeface="Bell MT" panose="02020503060305020303" pitchFamily="18" charset="0"/>
              </a:rPr>
              <a:t>Fixed Number</a:t>
            </a:r>
          </a:p>
          <a:p>
            <a:pPr lvl="1"/>
            <a:r>
              <a:rPr lang="en-IN" sz="2600" dirty="0">
                <a:latin typeface="Bell MT" panose="02020503060305020303" pitchFamily="18" charset="0"/>
              </a:rPr>
              <a:t>Whole Number</a:t>
            </a:r>
          </a:p>
          <a:p>
            <a:pPr lvl="1"/>
            <a:r>
              <a:rPr lang="en-IN" sz="2600" dirty="0">
                <a:latin typeface="Bell MT" panose="02020503060305020303" pitchFamily="18" charset="0"/>
              </a:rPr>
              <a:t>Percentage</a:t>
            </a:r>
          </a:p>
          <a:p>
            <a:pPr lvl="1"/>
            <a:r>
              <a:rPr lang="en-IN" sz="2600" dirty="0">
                <a:latin typeface="Bell MT" panose="02020503060305020303" pitchFamily="18" charset="0"/>
              </a:rPr>
              <a:t>Decimal</a:t>
            </a:r>
          </a:p>
          <a:p>
            <a:pPr lvl="1"/>
            <a:r>
              <a:rPr lang="en-IN" sz="2600" dirty="0">
                <a:latin typeface="Bell MT" panose="02020503060305020303" pitchFamily="18" charset="0"/>
              </a:rPr>
              <a:t>Binary</a:t>
            </a:r>
          </a:p>
          <a:p>
            <a:r>
              <a:rPr lang="en-IN" sz="3000" b="1" dirty="0">
                <a:latin typeface="Bell MT" panose="02020503060305020303" pitchFamily="18" charset="0"/>
              </a:rPr>
              <a:t>Date &amp; Time</a:t>
            </a:r>
          </a:p>
          <a:p>
            <a:pPr lvl="1"/>
            <a:r>
              <a:rPr lang="en-IN" sz="2600" dirty="0">
                <a:latin typeface="Bell MT" panose="02020503060305020303" pitchFamily="18" charset="0"/>
              </a:rPr>
              <a:t>Date</a:t>
            </a:r>
          </a:p>
          <a:p>
            <a:pPr lvl="1"/>
            <a:r>
              <a:rPr lang="en-IN" sz="2600" dirty="0">
                <a:latin typeface="Bell MT" panose="02020503060305020303" pitchFamily="18" charset="0"/>
              </a:rPr>
              <a:t>Time</a:t>
            </a:r>
          </a:p>
          <a:p>
            <a:pPr lvl="1"/>
            <a:r>
              <a:rPr lang="en-IN" sz="2600" dirty="0">
                <a:latin typeface="Bell MT" panose="02020503060305020303" pitchFamily="18" charset="0"/>
              </a:rPr>
              <a:t>Duration</a:t>
            </a:r>
          </a:p>
          <a:p>
            <a:r>
              <a:rPr lang="en-IN" sz="3000" b="1" dirty="0">
                <a:latin typeface="Bell MT" panose="02020503060305020303" pitchFamily="18" charset="0"/>
              </a:rPr>
              <a:t>Boolean (or) Logical</a:t>
            </a:r>
          </a:p>
        </p:txBody>
      </p:sp>
    </p:spTree>
    <p:extLst>
      <p:ext uri="{BB962C8B-B14F-4D97-AF65-F5344CB8AC3E}">
        <p14:creationId xmlns:p14="http://schemas.microsoft.com/office/powerpoint/2010/main" val="705625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C8C65-4228-E099-3AC2-B0F9A0E31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8000" dirty="0">
                <a:latin typeface="Bell MT" panose="02020503060305020303" pitchFamily="18" charset="0"/>
              </a:rPr>
              <a:t>BASIC CHARTS</a:t>
            </a:r>
          </a:p>
        </p:txBody>
      </p:sp>
    </p:spTree>
    <p:extLst>
      <p:ext uri="{BB962C8B-B14F-4D97-AF65-F5344CB8AC3E}">
        <p14:creationId xmlns:p14="http://schemas.microsoft.com/office/powerpoint/2010/main" val="3763920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1B0E-AF1A-9007-8F42-B26EF61C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237"/>
            <a:ext cx="10515600" cy="969899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Column / Stacked / Cluster Column Chart</a:t>
            </a:r>
          </a:p>
        </p:txBody>
      </p:sp>
      <p:pic>
        <p:nvPicPr>
          <p:cNvPr id="3076" name="Picture 4" descr="What is a Bar Chart? - Twinkl">
            <a:extLst>
              <a:ext uri="{FF2B5EF4-FFF2-40B4-BE49-F238E27FC236}">
                <a16:creationId xmlns:a16="http://schemas.microsoft.com/office/drawing/2014/main" id="{1BE79964-6367-5A50-665D-387E283C30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" y="1152144"/>
            <a:ext cx="4233672" cy="343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excel - 100% Stacked column chart in power bi - Stack Overflow">
            <a:extLst>
              <a:ext uri="{FF2B5EF4-FFF2-40B4-BE49-F238E27FC236}">
                <a16:creationId xmlns:a16="http://schemas.microsoft.com/office/drawing/2014/main" id="{6ABF6E47-1329-2C43-A684-19153013F0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8"/>
          <a:stretch>
            <a:fillRect/>
          </a:stretch>
        </p:blipFill>
        <p:spPr bwMode="auto">
          <a:xfrm>
            <a:off x="4283392" y="1133380"/>
            <a:ext cx="3730752" cy="343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How to Create a Clustered Stacked Bar Chart in Excel">
            <a:extLst>
              <a:ext uri="{FF2B5EF4-FFF2-40B4-BE49-F238E27FC236}">
                <a16:creationId xmlns:a16="http://schemas.microsoft.com/office/drawing/2014/main" id="{7EE513F2-504B-1255-02E4-64855D3B7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144" y="1152144"/>
            <a:ext cx="4037648" cy="343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99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1700</TotalTime>
  <Words>1022</Words>
  <Application>Microsoft Office PowerPoint</Application>
  <PresentationFormat>Widescreen</PresentationFormat>
  <Paragraphs>153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Algerian</vt:lpstr>
      <vt:lpstr>Arial</vt:lpstr>
      <vt:lpstr>Bell MT</vt:lpstr>
      <vt:lpstr>Calibri</vt:lpstr>
      <vt:lpstr>Calibri Light</vt:lpstr>
      <vt:lpstr>Wingdings</vt:lpstr>
      <vt:lpstr>Office Theme</vt:lpstr>
      <vt:lpstr>DATA ANALYTICS</vt:lpstr>
      <vt:lpstr>Data Analysis</vt:lpstr>
      <vt:lpstr>Data</vt:lpstr>
      <vt:lpstr>Different Types of Data</vt:lpstr>
      <vt:lpstr>Structured Data</vt:lpstr>
      <vt:lpstr>Unstructured Data</vt:lpstr>
      <vt:lpstr>Semi – Structured Data</vt:lpstr>
      <vt:lpstr>Data Engineer</vt:lpstr>
      <vt:lpstr>Data Analytics</vt:lpstr>
      <vt:lpstr>Data Science</vt:lpstr>
      <vt:lpstr>Responsibilities of Data Analyst</vt:lpstr>
      <vt:lpstr>Types of Data Analytics</vt:lpstr>
      <vt:lpstr>Why Data Analysis is Important</vt:lpstr>
      <vt:lpstr>Fields involved in Data Analytics</vt:lpstr>
      <vt:lpstr>Data Analysis Tools</vt:lpstr>
      <vt:lpstr>PowerPoint Presentation</vt:lpstr>
      <vt:lpstr>What is Power BI</vt:lpstr>
      <vt:lpstr>Power BI Different Tools</vt:lpstr>
      <vt:lpstr>Components of Power BI</vt:lpstr>
      <vt:lpstr>Architecture of Power BI</vt:lpstr>
      <vt:lpstr>Data Types in Power BI</vt:lpstr>
      <vt:lpstr>BASIC CHARTS</vt:lpstr>
      <vt:lpstr>Column / Stacked / Cluster Column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Gavaskar S</dc:creator>
  <cp:lastModifiedBy>Gavaskar S</cp:lastModifiedBy>
  <cp:revision>8</cp:revision>
  <dcterms:created xsi:type="dcterms:W3CDTF">2026-03-10T13:30:27Z</dcterms:created>
  <dcterms:modified xsi:type="dcterms:W3CDTF">2026-04-19T10:09:16Z</dcterms:modified>
</cp:coreProperties>
</file>